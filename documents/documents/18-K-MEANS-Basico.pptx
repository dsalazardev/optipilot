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30"/>
  </p:notesMasterIdLst>
  <p:sldIdLst>
    <p:sldId id="256" r:id="rId2"/>
    <p:sldId id="257" r:id="rId3"/>
    <p:sldId id="258" r:id="rId4"/>
    <p:sldId id="267" r:id="rId5"/>
    <p:sldId id="268" r:id="rId6"/>
    <p:sldId id="269" r:id="rId7"/>
    <p:sldId id="274" r:id="rId8"/>
    <p:sldId id="276" r:id="rId9"/>
    <p:sldId id="275" r:id="rId10"/>
    <p:sldId id="277" r:id="rId11"/>
    <p:sldId id="278" r:id="rId12"/>
    <p:sldId id="286" r:id="rId13"/>
    <p:sldId id="288" r:id="rId14"/>
    <p:sldId id="289" r:id="rId15"/>
    <p:sldId id="287" r:id="rId16"/>
    <p:sldId id="279" r:id="rId17"/>
    <p:sldId id="290" r:id="rId18"/>
    <p:sldId id="280" r:id="rId19"/>
    <p:sldId id="281" r:id="rId20"/>
    <p:sldId id="282" r:id="rId21"/>
    <p:sldId id="283" r:id="rId22"/>
    <p:sldId id="284" r:id="rId23"/>
    <p:sldId id="285" r:id="rId24"/>
    <p:sldId id="266" r:id="rId25"/>
    <p:sldId id="259" r:id="rId26"/>
    <p:sldId id="260" r:id="rId27"/>
    <p:sldId id="261" r:id="rId28"/>
    <p:sldId id="273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5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Shape 2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Shape 2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3688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825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7069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4668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4667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105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156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74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1598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1746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4623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069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13533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5979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4669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11697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85416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Shape 2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80001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28722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Shape 2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43487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8823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1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Shape 1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hape 15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16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Shape 2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Shape 2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Shape 2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Shape 3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Shape 3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Shape 3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Shape 4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Shape 4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Shape 4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2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Shape 54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Shape 55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Shape 5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2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3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body" idx="4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Shape 67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Shape 68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Shape 6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Shape 76" descr="HD-ShadowShor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Shape 7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Shape 82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Shape 83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Shape 8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Shape 8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body" idx="2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Shape 9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Shape 9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hape 9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8" name="Shape 98"/>
          <p:cNvSpPr>
            <a:spLocks noGrp="1"/>
          </p:cNvSpPr>
          <p:nvPr>
            <p:ph type="pic" idx="2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0784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panorámica con descripción">
  <p:cSld name="Imagen panorámica con descripció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Shape 104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Shape 105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Shape 106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Shape 107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9" name="Shape 109"/>
          <p:cNvSpPr>
            <a:spLocks noGrp="1"/>
          </p:cNvSpPr>
          <p:nvPr>
            <p:ph type="pic" idx="2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0784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13" name="Shape 113"/>
          <p:cNvSpPr txBox="1">
            <a:spLocks noGrp="1"/>
          </p:cNvSpPr>
          <p:nvPr>
            <p:ph type="sldNum" idx="12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escripción">
  <p:cSld name="Título y descripció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Shape 115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Shape 116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Shape 117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Shape 119"/>
          <p:cNvSpPr txBox="1"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21" name="Shape 121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22" name="Shape 122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23" name="Shape 123"/>
          <p:cNvSpPr txBox="1">
            <a:spLocks noGrp="1"/>
          </p:cNvSpPr>
          <p:nvPr>
            <p:ph type="sldNum" idx="12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 con descripción">
  <p:cSld name="Cita con descripció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Shape 125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Shape 126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Shape 127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Shape 128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1" name="Shape 131"/>
          <p:cNvSpPr txBox="1">
            <a:spLocks noGrp="1"/>
          </p:cNvSpPr>
          <p:nvPr>
            <p:ph type="body" idx="2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2" name="Shape 132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3" name="Shape 133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4" name="Shape 134"/>
          <p:cNvSpPr txBox="1">
            <a:spLocks noGrp="1"/>
          </p:cNvSpPr>
          <p:nvPr>
            <p:ph type="sldNum" idx="12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135" name="Shape 13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lang="es-CO" sz="7200" b="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Shape 13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lang="es-CO" sz="7200" b="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jeta de nombre">
  <p:cSld name="Tarjeta de nombre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Shape 138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Shape 139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Shape 14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Shape 14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Shape 142"/>
          <p:cNvSpPr txBox="1"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4" name="Shape 144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5" name="Shape 145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6" name="Shape 146"/>
          <p:cNvSpPr txBox="1">
            <a:spLocks noGrp="1"/>
          </p:cNvSpPr>
          <p:nvPr>
            <p:ph type="sldNum" idx="12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3">
  <p:cSld name="Columna 3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Shape 148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Shape 149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Shape 15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Shape 15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Shape 152"/>
          <p:cNvSpPr txBox="1"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4" name="Shape 154"/>
          <p:cNvSpPr txBox="1">
            <a:spLocks noGrp="1"/>
          </p:cNvSpPr>
          <p:nvPr>
            <p:ph type="body" idx="2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5" name="Shape 155"/>
          <p:cNvSpPr txBox="1">
            <a:spLocks noGrp="1"/>
          </p:cNvSpPr>
          <p:nvPr>
            <p:ph type="body" idx="3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6" name="Shape 156"/>
          <p:cNvSpPr txBox="1">
            <a:spLocks noGrp="1"/>
          </p:cNvSpPr>
          <p:nvPr>
            <p:ph type="body" idx="4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7" name="Shape 157"/>
          <p:cNvSpPr txBox="1">
            <a:spLocks noGrp="1"/>
          </p:cNvSpPr>
          <p:nvPr>
            <p:ph type="body" idx="5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8" name="Shape 158"/>
          <p:cNvSpPr txBox="1">
            <a:spLocks noGrp="1"/>
          </p:cNvSpPr>
          <p:nvPr>
            <p:ph type="body" idx="6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59" name="Shape 15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60" name="Shape 16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61" name="Shape 161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de imagen 3">
  <p:cSld name="Columna de imagen 3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Shape 16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Shape 16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Shape 16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Shape 16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Shape 167"/>
          <p:cNvSpPr txBox="1"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pic" idx="2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0" name="Shape 170"/>
          <p:cNvSpPr txBox="1">
            <a:spLocks noGrp="1"/>
          </p:cNvSpPr>
          <p:nvPr>
            <p:ph type="body" idx="3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1" name="Shape 171"/>
          <p:cNvSpPr txBox="1">
            <a:spLocks noGrp="1"/>
          </p:cNvSpPr>
          <p:nvPr>
            <p:ph type="body" idx="4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2" name="Shape 172"/>
          <p:cNvSpPr>
            <a:spLocks noGrp="1"/>
          </p:cNvSpPr>
          <p:nvPr>
            <p:ph type="pic" idx="5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3" name="Shape 173"/>
          <p:cNvSpPr txBox="1">
            <a:spLocks noGrp="1"/>
          </p:cNvSpPr>
          <p:nvPr>
            <p:ph type="body" idx="6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4" name="Shape 174"/>
          <p:cNvSpPr txBox="1">
            <a:spLocks noGrp="1"/>
          </p:cNvSpPr>
          <p:nvPr>
            <p:ph type="body" idx="7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5" name="Shape 175"/>
          <p:cNvSpPr>
            <a:spLocks noGrp="1"/>
          </p:cNvSpPr>
          <p:nvPr>
            <p:ph type="pic" idx="8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6" name="Shape 176"/>
          <p:cNvSpPr txBox="1">
            <a:spLocks noGrp="1"/>
          </p:cNvSpPr>
          <p:nvPr>
            <p:ph type="body" idx="9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7" name="Shape 177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8" name="Shape 178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9" name="Shape 179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Shape 181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Shape 182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Shape 18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Shape 18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Shape 18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 rot="5400000">
            <a:off x="3687593" y="-670399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87" name="Shape 187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89" name="Shape 189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Shape 192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 rot="5400000">
            <a:off x="2452029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5" name="Shape 195"/>
          <p:cNvSpPr txBox="1">
            <a:spLocks noGrp="1"/>
          </p:cNvSpPr>
          <p:nvPr>
            <p:ph type="dt" idx="10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6" name="Shape 196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7" name="Shape 197"/>
          <p:cNvSpPr txBox="1">
            <a:spLocks noGrp="1"/>
          </p:cNvSpPr>
          <p:nvPr>
            <p:ph type="sldNum" idx="12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50000">
              <a:schemeClr val="dk2"/>
            </a:gs>
            <a:gs pos="100000">
              <a:srgbClr val="9C9C9C"/>
            </a:gs>
          </a:gsLst>
          <a:lin ang="252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6" descr="hashOverlay-FullResolve.png"/>
          <p:cNvPicPr preferRelativeResize="0"/>
          <p:nvPr/>
        </p:nvPicPr>
        <p:blipFill rotWithShape="1">
          <a:blip r:embed="rId19">
            <a:alphaModFix amt="1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7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rapidminer.com/latest/studio/operators/modeling/segmentation/k_means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zHbxbb2ye3E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</a:pPr>
            <a:r>
              <a:rPr lang="es-CO" sz="5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K-MEANS	</a:t>
            </a:r>
            <a:endParaRPr sz="54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Shape 203"/>
          <p:cNvSpPr txBox="1"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FELIPE BUITRAGO CARMONA</a:t>
            </a:r>
            <a:endParaRPr sz="20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Descripción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0322" y="2336873"/>
            <a:ext cx="7028774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Agrupación entre elementos que son similares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Se puede utilizar en datos no etiquetados</a:t>
            </a:r>
            <a:endParaRPr dirty="0"/>
          </a:p>
          <a:p>
            <a:pPr marL="228600" marR="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de aprendizaje automático no supervisado</a:t>
            </a: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0" name="Shape 210" descr="https://upload.wikimedia.org/wikipedia/commons/thumb/1/10/Iris_Flowers_Clustering_kMeans.svg/660px-Iris_Flowers_Clustering_kMeans.svg.png"/>
          <p:cNvPicPr preferRelativeResize="0"/>
          <p:nvPr/>
        </p:nvPicPr>
        <p:blipFill rotWithShape="1">
          <a:blip r:embed="rId3">
            <a:alphaModFix/>
          </a:blip>
          <a:srcRect r="47892"/>
          <a:stretch/>
        </p:blipFill>
        <p:spPr>
          <a:xfrm>
            <a:off x="7433239" y="2126622"/>
            <a:ext cx="4584877" cy="411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Descripción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6" name="Shape 216" descr="https://upload.wikimedia.org/wikipedia/commons/thumb/1/10/Iris_Flowers_Clustering_kMeans.svg/660px-Iris_Flowers_Clustering_kMeans.svg.png"/>
          <p:cNvPicPr preferRelativeResize="0"/>
          <p:nvPr/>
        </p:nvPicPr>
        <p:blipFill rotWithShape="1">
          <a:blip r:embed="rId3">
            <a:alphaModFix/>
          </a:blip>
          <a:srcRect r="47892"/>
          <a:stretch/>
        </p:blipFill>
        <p:spPr>
          <a:xfrm>
            <a:off x="7433239" y="2156118"/>
            <a:ext cx="4584877" cy="411943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684405" y="3302663"/>
            <a:ext cx="7028774" cy="83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 dirty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Centroide: Elemento central en el espacio n-dimensional de los n Atributos del Data Set.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" name="Shape 218"/>
          <p:cNvSpPr txBox="1"/>
          <p:nvPr/>
        </p:nvSpPr>
        <p:spPr>
          <a:xfrm>
            <a:off x="684405" y="4613597"/>
            <a:ext cx="7028774" cy="83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Char char="•"/>
            </a:pPr>
            <a:r>
              <a:rPr lang="es-CO" sz="222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Clúster: Consisten en valores similares. La similitud entre los valores se basa en una medida de distancia entre ellos.</a:t>
            </a:r>
            <a:endParaRPr dirty="0"/>
          </a:p>
          <a:p>
            <a:pPr marL="228600" marR="0" lvl="0" indent="-87629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20"/>
              <a:buFont typeface="Arial"/>
              <a:buNone/>
            </a:pPr>
            <a:endParaRPr sz="222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20"/>
              <a:buFont typeface="Arial"/>
              <a:buNone/>
            </a:pPr>
            <a:endParaRPr sz="222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Shape 219"/>
          <p:cNvSpPr/>
          <p:nvPr/>
        </p:nvSpPr>
        <p:spPr>
          <a:xfrm rot="-1934809">
            <a:off x="8675205" y="3015578"/>
            <a:ext cx="4009962" cy="185448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Shape 220"/>
          <p:cNvSpPr/>
          <p:nvPr/>
        </p:nvSpPr>
        <p:spPr>
          <a:xfrm rot="10800000" flipH="1">
            <a:off x="9952383" y="4301169"/>
            <a:ext cx="484632" cy="43957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" name="Shape 218">
            <a:extLst>
              <a:ext uri="{FF2B5EF4-FFF2-40B4-BE49-F238E27FC236}">
                <a16:creationId xmlns:a16="http://schemas.microsoft.com/office/drawing/2014/main" id="{FFBFF0C1-7AF4-418F-B539-256694234DFD}"/>
              </a:ext>
            </a:extLst>
          </p:cNvPr>
          <p:cNvSpPr txBox="1"/>
          <p:nvPr/>
        </p:nvSpPr>
        <p:spPr>
          <a:xfrm>
            <a:off x="694186" y="5708114"/>
            <a:ext cx="7028774" cy="83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Char char="•"/>
            </a:pPr>
            <a:r>
              <a:rPr lang="es-CO" sz="222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Observación: Elemento del grupo de datos</a:t>
            </a:r>
            <a:endParaRPr dirty="0"/>
          </a:p>
          <a:p>
            <a:pPr marL="228600" marR="0" lvl="0" indent="-87629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20"/>
              <a:buFont typeface="Arial"/>
              <a:buNone/>
            </a:pPr>
            <a:endParaRPr sz="222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20"/>
              <a:buFont typeface="Arial"/>
              <a:buNone/>
            </a:pPr>
            <a:endParaRPr sz="222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" name="Shape 220">
            <a:extLst>
              <a:ext uri="{FF2B5EF4-FFF2-40B4-BE49-F238E27FC236}">
                <a16:creationId xmlns:a16="http://schemas.microsoft.com/office/drawing/2014/main" id="{D5180675-B05F-4BC6-8443-9AB5BF51DB28}"/>
              </a:ext>
            </a:extLst>
          </p:cNvPr>
          <p:cNvSpPr/>
          <p:nvPr/>
        </p:nvSpPr>
        <p:spPr>
          <a:xfrm rot="7501491" flipH="1">
            <a:off x="11116230" y="3099099"/>
            <a:ext cx="219748" cy="19931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Consideraciones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6" name="Shape 216" descr="https://upload.wikimedia.org/wikipedia/commons/thumb/1/10/Iris_Flowers_Clustering_kMeans.svg/660px-Iris_Flowers_Clustering_kMeans.svg.png"/>
          <p:cNvPicPr preferRelativeResize="0"/>
          <p:nvPr/>
        </p:nvPicPr>
        <p:blipFill rotWithShape="1">
          <a:blip r:embed="rId3">
            <a:alphaModFix/>
          </a:blip>
          <a:srcRect r="47892"/>
          <a:stretch/>
        </p:blipFill>
        <p:spPr>
          <a:xfrm>
            <a:off x="7433239" y="2126622"/>
            <a:ext cx="4584877" cy="41194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3E8432-61CD-4189-8FBC-6EA7A84A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6030195" cy="3599316"/>
          </a:xfrm>
        </p:spPr>
        <p:txBody>
          <a:bodyPr/>
          <a:lstStyle/>
          <a:p>
            <a:r>
              <a:rPr lang="es-CO" sz="2800" dirty="0"/>
              <a:t>Minimizar variación intra-</a:t>
            </a:r>
            <a:r>
              <a:rPr lang="es-CO" sz="2800" dirty="0" err="1"/>
              <a:t>clouster</a:t>
            </a:r>
            <a:endParaRPr lang="es-CO" sz="2800" dirty="0"/>
          </a:p>
          <a:p>
            <a:pPr marL="76200" indent="0">
              <a:buNone/>
            </a:pPr>
            <a:endParaRPr lang="es-CO" sz="2800" dirty="0"/>
          </a:p>
          <a:p>
            <a:pPr marL="76200" indent="0">
              <a:buNone/>
            </a:pPr>
            <a:endParaRPr lang="es-CO" sz="2800" dirty="0"/>
          </a:p>
          <a:p>
            <a:r>
              <a:rPr lang="es-CO" sz="2800" dirty="0"/>
              <a:t>Maximizar variación extra-</a:t>
            </a:r>
            <a:r>
              <a:rPr lang="es-CO" sz="2800" dirty="0" err="1"/>
              <a:t>clouster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84505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Distancia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6" name="Shape 216" descr="https://upload.wikimedia.org/wikipedia/commons/thumb/1/10/Iris_Flowers_Clustering_kMeans.svg/660px-Iris_Flowers_Clustering_kMeans.svg.png"/>
          <p:cNvPicPr preferRelativeResize="0"/>
          <p:nvPr/>
        </p:nvPicPr>
        <p:blipFill rotWithShape="1">
          <a:blip r:embed="rId3">
            <a:alphaModFix/>
          </a:blip>
          <a:srcRect r="47892"/>
          <a:stretch/>
        </p:blipFill>
        <p:spPr>
          <a:xfrm>
            <a:off x="7433239" y="2126622"/>
            <a:ext cx="4584877" cy="411943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583E8432-61CD-4189-8FBC-6EA7A84AAA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0321" y="2336873"/>
                <a:ext cx="6030195" cy="359931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CO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s-CO" sz="2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CO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sSup>
                              <m:sSupPr>
                                <m:ctrlPr>
                                  <a:rPr lang="es-CO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CO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CO" sz="2800" b="0" i="1" smtClean="0">
                                        <a:latin typeface="Cambria Math" panose="02040503050406030204" pitchFamily="18" charset="0"/>
                                      </a:rPr>
                                      <m:t>𝑖𝑘</m:t>
                                    </m:r>
                                  </m:sub>
                                </m:sSub>
                                <m:r>
                                  <a:rPr lang="es-CO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CO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O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CO" sz="2800" b="0" i="1" smtClean="0">
                                        <a:latin typeface="Cambria Math" panose="02040503050406030204" pitchFamily="18" charset="0"/>
                                      </a:rPr>
                                      <m:t>𝑗𝑘</m:t>
                                    </m:r>
                                  </m:sub>
                                </m:sSub>
                                <m:r>
                                  <a:rPr lang="es-CO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CO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s-CO" sz="2800" b="0" dirty="0"/>
              </a:p>
              <a:p>
                <a:pPr marL="76200" indent="0">
                  <a:buNone/>
                </a:pPr>
                <a:r>
                  <a:rPr lang="es-CO" sz="2800" dirty="0"/>
                  <a:t>		</a:t>
                </a:r>
                <a:r>
                  <a:rPr lang="es-CO" sz="1800" dirty="0"/>
                  <a:t>Fórmula 1</a:t>
                </a:r>
              </a:p>
              <a:p>
                <a:pPr marL="76200" indent="0">
                  <a:buNone/>
                </a:pPr>
                <a:endParaRPr lang="es-CO" sz="2800" dirty="0"/>
              </a:p>
              <a:p>
                <a:r>
                  <a:rPr lang="es-CO" sz="2800" dirty="0"/>
                  <a:t>p</a:t>
                </a:r>
                <a:r>
                  <a:rPr lang="es-ES" sz="2800" dirty="0"/>
                  <a:t>= Número de dimensiones</a:t>
                </a:r>
              </a:p>
              <a:p>
                <a:r>
                  <a:rPr lang="es-CO" sz="2800" dirty="0"/>
                  <a:t>x</a:t>
                </a:r>
                <a:r>
                  <a:rPr lang="es-ES" sz="2800" dirty="0"/>
                  <a:t>= observaciones evaluados </a:t>
                </a:r>
              </a:p>
            </p:txBody>
          </p:sp>
        </mc:Choice>
        <mc:Fallback xmlns="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583E8432-61CD-4189-8FBC-6EA7A84AAA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0321" y="2336873"/>
                <a:ext cx="6030195" cy="3599316"/>
              </a:xfrm>
              <a:blipFill>
                <a:blip r:embed="rId4"/>
                <a:stretch>
                  <a:fillRect l="-1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98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560" y="2066784"/>
            <a:ext cx="11206879" cy="541265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1. k= Número de </a:t>
            </a:r>
            <a:r>
              <a:rPr lang="es-CO" dirty="0" err="1"/>
              <a:t>clousters</a:t>
            </a:r>
            <a:endParaRPr lang="es-CO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2. Elección de centroides</a:t>
            </a:r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3. Medir la distancia de las observaciones a los k centroides. (Fórmula 1)</a:t>
            </a:r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</a:t>
            </a:r>
            <a:r>
              <a:rPr lang="es-ES" dirty="0"/>
              <a:t>aso 4.Asignar cada observación al centroide mas cercano</a:t>
            </a:r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</a:t>
            </a:r>
            <a:r>
              <a:rPr lang="es-ES" dirty="0"/>
              <a:t>aso 5. Por cada grupo, actualizar el centroide, calculando el dato medio del conjunto</a:t>
            </a:r>
          </a:p>
          <a:p>
            <a:pPr marL="76200" indent="0">
              <a:lnSpc>
                <a:spcPct val="100000"/>
              </a:lnSpc>
              <a:buNone/>
            </a:pPr>
            <a:endParaRPr lang="es-ES" sz="700" dirty="0"/>
          </a:p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6. Repetir el paso 3,4 y 5 hasta que no cambien los centroides</a:t>
            </a:r>
          </a:p>
        </p:txBody>
      </p:sp>
    </p:spTree>
    <p:extLst>
      <p:ext uri="{BB962C8B-B14F-4D97-AF65-F5344CB8AC3E}">
        <p14:creationId xmlns:p14="http://schemas.microsoft.com/office/powerpoint/2010/main" val="2119318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1. </a:t>
            </a:r>
            <a:r>
              <a:rPr lang="es-CO" sz="3600" b="1" dirty="0"/>
              <a:t>k= 3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9"/>
            <a:ext cx="3170903" cy="21660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21660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21660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4961717" y="501412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9250927" y="5875662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2753804" y="5059677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3839845" y="506323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1456788" y="5987709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6871720" y="5881068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959397" y="599477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7351759" y="5017665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2159669" y="5974223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7933083" y="5899469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8689274" y="500291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6315051" y="497918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4937027" y="5938749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1732272" y="5105562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5891243" y="590744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3770895" y="5948046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10261806" y="5086747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328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2. Elección de centroides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9"/>
            <a:ext cx="3170903" cy="21660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21660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21660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4961717" y="501412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9250927" y="5875662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2753804" y="5059677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3839845" y="506323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1456788" y="5987709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6871720" y="5881068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959397" y="599477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7351759" y="5017665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7933083" y="5899469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8689274" y="500291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4937027" y="5938749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1732272" y="5105562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5891243" y="590744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3770895" y="5948046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1643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3. Medir la distancia de las observaciones a los k centroides. (Fórmula 1)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9"/>
            <a:ext cx="3170903" cy="21660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21660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21660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4961717" y="501412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9250927" y="5875662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3839845" y="506323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1456788" y="5987709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6871720" y="5881068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959397" y="599477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7351759" y="5017665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7933083" y="5899469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8689274" y="500291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4937027" y="5938749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1732272" y="5105562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5891243" y="590744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3770895" y="5948046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BC53808C-BFEA-4527-AFCF-EC6F2EF258D3}"/>
              </a:ext>
            </a:extLst>
          </p:cNvPr>
          <p:cNvSpPr/>
          <p:nvPr/>
        </p:nvSpPr>
        <p:spPr>
          <a:xfrm>
            <a:off x="943399" y="3621504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1096196" y="3599776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sp>
        <p:nvSpPr>
          <p:cNvPr id="75" name="CuadroTexto 74">
            <a:extLst>
              <a:ext uri="{FF2B5EF4-FFF2-40B4-BE49-F238E27FC236}">
                <a16:creationId xmlns:a16="http://schemas.microsoft.com/office/drawing/2014/main" id="{171430DC-A251-47A9-9DF8-2D92847BDEF1}"/>
              </a:ext>
            </a:extLst>
          </p:cNvPr>
          <p:cNvSpPr txBox="1"/>
          <p:nvPr/>
        </p:nvSpPr>
        <p:spPr>
          <a:xfrm>
            <a:off x="1781985" y="3840530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5</a:t>
            </a:r>
            <a:endParaRPr lang="es-ES" b="1" dirty="0">
              <a:solidFill>
                <a:schemeClr val="bg2"/>
              </a:solidFill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3E701872-4F83-410F-92DC-3512BFCB310B}"/>
              </a:ext>
            </a:extLst>
          </p:cNvPr>
          <p:cNvSpPr/>
          <p:nvPr/>
        </p:nvSpPr>
        <p:spPr>
          <a:xfrm>
            <a:off x="4475921" y="3628147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3BC79BBF-A20F-4D45-8F1D-A376FDD2F050}"/>
              </a:ext>
            </a:extLst>
          </p:cNvPr>
          <p:cNvGrpSpPr/>
          <p:nvPr/>
        </p:nvGrpSpPr>
        <p:grpSpPr>
          <a:xfrm>
            <a:off x="4628718" y="3606419"/>
            <a:ext cx="636076" cy="934981"/>
            <a:chOff x="1236969" y="5633938"/>
            <a:chExt cx="636076" cy="934981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79E882AE-AC5E-4320-88DF-CC88A185AEA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4" name="Elipse 83">
              <a:extLst>
                <a:ext uri="{FF2B5EF4-FFF2-40B4-BE49-F238E27FC236}">
                  <a16:creationId xmlns:a16="http://schemas.microsoft.com/office/drawing/2014/main" id="{C1AFA3D4-F6F9-45A4-8A7D-31C1517EB9CA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E5887E94-5EA9-4CC6-AD63-D46B0579E8FE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sp>
        <p:nvSpPr>
          <p:cNvPr id="90" name="CuadroTexto 89">
            <a:extLst>
              <a:ext uri="{FF2B5EF4-FFF2-40B4-BE49-F238E27FC236}">
                <a16:creationId xmlns:a16="http://schemas.microsoft.com/office/drawing/2014/main" id="{7C93F168-C739-4DB2-B4F9-0C5B94C8F024}"/>
              </a:ext>
            </a:extLst>
          </p:cNvPr>
          <p:cNvSpPr txBox="1"/>
          <p:nvPr/>
        </p:nvSpPr>
        <p:spPr>
          <a:xfrm>
            <a:off x="5314507" y="3847173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6</a:t>
            </a:r>
            <a:endParaRPr lang="es-ES" b="1" dirty="0">
              <a:solidFill>
                <a:schemeClr val="bg2"/>
              </a:solidFill>
            </a:endParaRPr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DB045192-A1F5-4A76-94F5-1F12B56068B7}"/>
              </a:ext>
            </a:extLst>
          </p:cNvPr>
          <p:cNvGrpSpPr/>
          <p:nvPr/>
        </p:nvGrpSpPr>
        <p:grpSpPr>
          <a:xfrm>
            <a:off x="5620376" y="3584041"/>
            <a:ext cx="636076" cy="934981"/>
            <a:chOff x="1236969" y="5633938"/>
            <a:chExt cx="636076" cy="934981"/>
          </a:xfrm>
        </p:grpSpPr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9D6DC62D-F40D-42CC-A23D-B24908055F4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57F6239E-9E66-4B94-811C-DBF97605FFC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228AC221-8AF2-4820-AEC2-31E3C4BEACE3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sp>
        <p:nvSpPr>
          <p:cNvPr id="95" name="Rectángulo 94">
            <a:extLst>
              <a:ext uri="{FF2B5EF4-FFF2-40B4-BE49-F238E27FC236}">
                <a16:creationId xmlns:a16="http://schemas.microsoft.com/office/drawing/2014/main" id="{73774510-0118-4E86-9D5F-A8B5D6DE753F}"/>
              </a:ext>
            </a:extLst>
          </p:cNvPr>
          <p:cNvSpPr/>
          <p:nvPr/>
        </p:nvSpPr>
        <p:spPr>
          <a:xfrm>
            <a:off x="8020450" y="3559321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6" name="Grupo 95">
            <a:extLst>
              <a:ext uri="{FF2B5EF4-FFF2-40B4-BE49-F238E27FC236}">
                <a16:creationId xmlns:a16="http://schemas.microsoft.com/office/drawing/2014/main" id="{F2F1A8F0-CAD4-43B6-8E39-5D5A4445FB6D}"/>
              </a:ext>
            </a:extLst>
          </p:cNvPr>
          <p:cNvGrpSpPr/>
          <p:nvPr/>
        </p:nvGrpSpPr>
        <p:grpSpPr>
          <a:xfrm>
            <a:off x="8173247" y="3537593"/>
            <a:ext cx="636076" cy="934981"/>
            <a:chOff x="1236969" y="5633938"/>
            <a:chExt cx="636076" cy="934981"/>
          </a:xfrm>
        </p:grpSpPr>
        <p:sp>
          <p:nvSpPr>
            <p:cNvPr id="97" name="Rectángulo 96">
              <a:extLst>
                <a:ext uri="{FF2B5EF4-FFF2-40B4-BE49-F238E27FC236}">
                  <a16:creationId xmlns:a16="http://schemas.microsoft.com/office/drawing/2014/main" id="{17D4B7CB-F28A-4B14-8B05-4A8939BF2CB9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00FB1B37-8934-4B18-B117-C0E15666C47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99CA5173-13A7-42AE-B799-5D14B35CC0E7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D1862CDE-72FE-46F7-8041-5AD72268DBC5}"/>
              </a:ext>
            </a:extLst>
          </p:cNvPr>
          <p:cNvSpPr txBox="1"/>
          <p:nvPr/>
        </p:nvSpPr>
        <p:spPr>
          <a:xfrm>
            <a:off x="8859036" y="3778347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7</a:t>
            </a:r>
            <a:endParaRPr lang="es-ES" b="1" dirty="0">
              <a:solidFill>
                <a:schemeClr val="bg2"/>
              </a:solidFill>
            </a:endParaRP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B887CD53-CDD6-478F-BD8B-819922B2B7D4}"/>
              </a:ext>
            </a:extLst>
          </p:cNvPr>
          <p:cNvGrpSpPr/>
          <p:nvPr/>
        </p:nvGrpSpPr>
        <p:grpSpPr>
          <a:xfrm>
            <a:off x="9179295" y="3552360"/>
            <a:ext cx="636076" cy="934981"/>
            <a:chOff x="1236969" y="5633938"/>
            <a:chExt cx="636076" cy="934981"/>
          </a:xfrm>
        </p:grpSpPr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ABB98679-EFD5-4DA6-B809-9DE181890E2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AD8C4028-5DAA-44F9-AD4D-79569D2CCEB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C15F5A73-2445-4059-9687-025E015B905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DECE0234-57E7-3C18-9722-45D8ECEFDACF}"/>
              </a:ext>
            </a:extLst>
          </p:cNvPr>
          <p:cNvGrpSpPr/>
          <p:nvPr/>
        </p:nvGrpSpPr>
        <p:grpSpPr>
          <a:xfrm>
            <a:off x="2180384" y="3647261"/>
            <a:ext cx="636076" cy="934981"/>
            <a:chOff x="1236969" y="5633938"/>
            <a:chExt cx="636076" cy="934981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BF5951DE-3104-F39C-6A7C-BFC1E774AFC9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F781074A-0FDC-EA5D-F846-FE16A1F1665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5D2C69EE-F09A-FA66-F9D0-2876693921C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9394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3. Medir la distancia de las observaciones a los k centroides. (Fórmula 1)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9"/>
            <a:ext cx="3170903" cy="21660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21660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21660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4961717" y="501412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9250927" y="5875662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3839845" y="506323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1456788" y="5987709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6871720" y="5881068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959397" y="599477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7351759" y="5017665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7933083" y="5899469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8689274" y="500291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4937027" y="5938749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1732272" y="5105562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5891243" y="590744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3770895" y="5948046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BC53808C-BFEA-4527-AFCF-EC6F2EF258D3}"/>
              </a:ext>
            </a:extLst>
          </p:cNvPr>
          <p:cNvSpPr/>
          <p:nvPr/>
        </p:nvSpPr>
        <p:spPr>
          <a:xfrm>
            <a:off x="943399" y="3621504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1096196" y="3599776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sp>
        <p:nvSpPr>
          <p:cNvPr id="75" name="CuadroTexto 74">
            <a:extLst>
              <a:ext uri="{FF2B5EF4-FFF2-40B4-BE49-F238E27FC236}">
                <a16:creationId xmlns:a16="http://schemas.microsoft.com/office/drawing/2014/main" id="{171430DC-A251-47A9-9DF8-2D92847BDEF1}"/>
              </a:ext>
            </a:extLst>
          </p:cNvPr>
          <p:cNvSpPr txBox="1"/>
          <p:nvPr/>
        </p:nvSpPr>
        <p:spPr>
          <a:xfrm>
            <a:off x="1781985" y="3840530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5</a:t>
            </a:r>
            <a:endParaRPr lang="es-ES" b="1" dirty="0">
              <a:solidFill>
                <a:schemeClr val="bg2"/>
              </a:solidFill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3E701872-4F83-410F-92DC-3512BFCB310B}"/>
              </a:ext>
            </a:extLst>
          </p:cNvPr>
          <p:cNvSpPr/>
          <p:nvPr/>
        </p:nvSpPr>
        <p:spPr>
          <a:xfrm>
            <a:off x="4475921" y="3628147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3BC79BBF-A20F-4D45-8F1D-A376FDD2F050}"/>
              </a:ext>
            </a:extLst>
          </p:cNvPr>
          <p:cNvGrpSpPr/>
          <p:nvPr/>
        </p:nvGrpSpPr>
        <p:grpSpPr>
          <a:xfrm>
            <a:off x="4628718" y="3606419"/>
            <a:ext cx="636076" cy="934981"/>
            <a:chOff x="1236969" y="5633938"/>
            <a:chExt cx="636076" cy="934981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79E882AE-AC5E-4320-88DF-CC88A185AEA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4" name="Elipse 83">
              <a:extLst>
                <a:ext uri="{FF2B5EF4-FFF2-40B4-BE49-F238E27FC236}">
                  <a16:creationId xmlns:a16="http://schemas.microsoft.com/office/drawing/2014/main" id="{C1AFA3D4-F6F9-45A4-8A7D-31C1517EB9CA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E5887E94-5EA9-4CC6-AD63-D46B0579E8FE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sp>
        <p:nvSpPr>
          <p:cNvPr id="90" name="CuadroTexto 89">
            <a:extLst>
              <a:ext uri="{FF2B5EF4-FFF2-40B4-BE49-F238E27FC236}">
                <a16:creationId xmlns:a16="http://schemas.microsoft.com/office/drawing/2014/main" id="{7C93F168-C739-4DB2-B4F9-0C5B94C8F024}"/>
              </a:ext>
            </a:extLst>
          </p:cNvPr>
          <p:cNvSpPr txBox="1"/>
          <p:nvPr/>
        </p:nvSpPr>
        <p:spPr>
          <a:xfrm>
            <a:off x="5314507" y="3847173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6</a:t>
            </a:r>
            <a:endParaRPr lang="es-ES" b="1" dirty="0">
              <a:solidFill>
                <a:schemeClr val="bg2"/>
              </a:solidFill>
            </a:endParaRPr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DB045192-A1F5-4A76-94F5-1F12B56068B7}"/>
              </a:ext>
            </a:extLst>
          </p:cNvPr>
          <p:cNvGrpSpPr/>
          <p:nvPr/>
        </p:nvGrpSpPr>
        <p:grpSpPr>
          <a:xfrm>
            <a:off x="5620376" y="3584041"/>
            <a:ext cx="636076" cy="934981"/>
            <a:chOff x="1236969" y="5633938"/>
            <a:chExt cx="636076" cy="934981"/>
          </a:xfrm>
        </p:grpSpPr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9D6DC62D-F40D-42CC-A23D-B24908055F4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57F6239E-9E66-4B94-811C-DBF97605FFC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228AC221-8AF2-4820-AEC2-31E3C4BEACE3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sp>
        <p:nvSpPr>
          <p:cNvPr id="95" name="Rectángulo 94">
            <a:extLst>
              <a:ext uri="{FF2B5EF4-FFF2-40B4-BE49-F238E27FC236}">
                <a16:creationId xmlns:a16="http://schemas.microsoft.com/office/drawing/2014/main" id="{73774510-0118-4E86-9D5F-A8B5D6DE753F}"/>
              </a:ext>
            </a:extLst>
          </p:cNvPr>
          <p:cNvSpPr/>
          <p:nvPr/>
        </p:nvSpPr>
        <p:spPr>
          <a:xfrm>
            <a:off x="8020450" y="3559321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6" name="Grupo 95">
            <a:extLst>
              <a:ext uri="{FF2B5EF4-FFF2-40B4-BE49-F238E27FC236}">
                <a16:creationId xmlns:a16="http://schemas.microsoft.com/office/drawing/2014/main" id="{F2F1A8F0-CAD4-43B6-8E39-5D5A4445FB6D}"/>
              </a:ext>
            </a:extLst>
          </p:cNvPr>
          <p:cNvGrpSpPr/>
          <p:nvPr/>
        </p:nvGrpSpPr>
        <p:grpSpPr>
          <a:xfrm>
            <a:off x="8173247" y="3537593"/>
            <a:ext cx="636076" cy="934981"/>
            <a:chOff x="1236969" y="5633938"/>
            <a:chExt cx="636076" cy="934981"/>
          </a:xfrm>
        </p:grpSpPr>
        <p:sp>
          <p:nvSpPr>
            <p:cNvPr id="97" name="Rectángulo 96">
              <a:extLst>
                <a:ext uri="{FF2B5EF4-FFF2-40B4-BE49-F238E27FC236}">
                  <a16:creationId xmlns:a16="http://schemas.microsoft.com/office/drawing/2014/main" id="{17D4B7CB-F28A-4B14-8B05-4A8939BF2CB9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00FB1B37-8934-4B18-B117-C0E15666C47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99CA5173-13A7-42AE-B799-5D14B35CC0E7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D1862CDE-72FE-46F7-8041-5AD72268DBC5}"/>
              </a:ext>
            </a:extLst>
          </p:cNvPr>
          <p:cNvSpPr txBox="1"/>
          <p:nvPr/>
        </p:nvSpPr>
        <p:spPr>
          <a:xfrm>
            <a:off x="8859036" y="3778347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7</a:t>
            </a:r>
            <a:endParaRPr lang="es-ES" b="1" dirty="0">
              <a:solidFill>
                <a:schemeClr val="bg2"/>
              </a:solidFill>
            </a:endParaRP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B887CD53-CDD6-478F-BD8B-819922B2B7D4}"/>
              </a:ext>
            </a:extLst>
          </p:cNvPr>
          <p:cNvGrpSpPr/>
          <p:nvPr/>
        </p:nvGrpSpPr>
        <p:grpSpPr>
          <a:xfrm>
            <a:off x="9179295" y="3552360"/>
            <a:ext cx="636076" cy="934981"/>
            <a:chOff x="1236969" y="5633938"/>
            <a:chExt cx="636076" cy="934981"/>
          </a:xfrm>
        </p:grpSpPr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ABB98679-EFD5-4DA6-B809-9DE181890E2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AD8C4028-5DAA-44F9-AD4D-79569D2CCEB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C15F5A73-2445-4059-9687-025E015B905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sp>
        <p:nvSpPr>
          <p:cNvPr id="80" name="Elipse 79">
            <a:extLst>
              <a:ext uri="{FF2B5EF4-FFF2-40B4-BE49-F238E27FC236}">
                <a16:creationId xmlns:a16="http://schemas.microsoft.com/office/drawing/2014/main" id="{25554BA2-7D07-42FF-A84A-EBBADFD1BCD3}"/>
              </a:ext>
            </a:extLst>
          </p:cNvPr>
          <p:cNvSpPr/>
          <p:nvPr/>
        </p:nvSpPr>
        <p:spPr>
          <a:xfrm>
            <a:off x="3069727" y="3822732"/>
            <a:ext cx="401133" cy="530491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87340206-989C-1720-87E1-C09FA4F91D51}"/>
              </a:ext>
            </a:extLst>
          </p:cNvPr>
          <p:cNvGrpSpPr/>
          <p:nvPr/>
        </p:nvGrpSpPr>
        <p:grpSpPr>
          <a:xfrm>
            <a:off x="2109750" y="3635951"/>
            <a:ext cx="636076" cy="934981"/>
            <a:chOff x="1236969" y="5633938"/>
            <a:chExt cx="636076" cy="934981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BCFE97C1-4CA1-5054-3DBB-0988756C81F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37A357D7-C33A-A041-3416-A922231C14AC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5DBCB40B-963C-41CA-D2C5-4F74B8B7445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977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</a:t>
            </a:r>
            <a:r>
              <a:rPr lang="es-ES" dirty="0"/>
              <a:t>aso 4.Asignar cada observación al centroide mas cercano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9"/>
            <a:ext cx="3170903" cy="21660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21660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21660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4961717" y="501412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9250927" y="5875662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808140" y="3322109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3839845" y="506323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1456788" y="5987709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6871720" y="5881068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959397" y="599477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7351759" y="5017665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7933083" y="5899469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8689274" y="500291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4937027" y="5938749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1732272" y="5105562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5891243" y="590744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3770895" y="5948046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217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C18D6-2043-7D55-27ED-FC902692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</a:rPr>
              <a:t>Repetir Proceso Por Cada Elemento</a:t>
            </a:r>
            <a:endParaRPr lang="es-CO" dirty="0">
              <a:solidFill>
                <a:schemeClr val="bg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3C12C7-8C05-12B6-8D5A-10CCE49D0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7196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3. Medir la distancia de las observaciones a los k centroides. (Fórmula 1)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9"/>
            <a:ext cx="3170903" cy="21660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21660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21660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4961717" y="501412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9250927" y="5875662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3839845" y="506323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1456788" y="5987709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6871720" y="5881068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959397" y="599477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7351759" y="5017665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7933083" y="5899469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8689274" y="500291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4937027" y="5938749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5891243" y="590744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3770895" y="5948046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BC53808C-BFEA-4527-AFCF-EC6F2EF258D3}"/>
              </a:ext>
            </a:extLst>
          </p:cNvPr>
          <p:cNvSpPr/>
          <p:nvPr/>
        </p:nvSpPr>
        <p:spPr>
          <a:xfrm>
            <a:off x="943399" y="3621504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171430DC-A251-47A9-9DF8-2D92847BDEF1}"/>
              </a:ext>
            </a:extLst>
          </p:cNvPr>
          <p:cNvSpPr txBox="1"/>
          <p:nvPr/>
        </p:nvSpPr>
        <p:spPr>
          <a:xfrm>
            <a:off x="1781985" y="3840530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1</a:t>
            </a:r>
            <a:endParaRPr lang="es-ES" b="1" dirty="0">
              <a:solidFill>
                <a:schemeClr val="bg2"/>
              </a:solidFill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3E701872-4F83-410F-92DC-3512BFCB310B}"/>
              </a:ext>
            </a:extLst>
          </p:cNvPr>
          <p:cNvSpPr/>
          <p:nvPr/>
        </p:nvSpPr>
        <p:spPr>
          <a:xfrm>
            <a:off x="4475921" y="3628147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7C93F168-C739-4DB2-B4F9-0C5B94C8F024}"/>
              </a:ext>
            </a:extLst>
          </p:cNvPr>
          <p:cNvSpPr txBox="1"/>
          <p:nvPr/>
        </p:nvSpPr>
        <p:spPr>
          <a:xfrm>
            <a:off x="5314507" y="3847173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2</a:t>
            </a:r>
            <a:endParaRPr lang="es-ES" b="1" dirty="0">
              <a:solidFill>
                <a:schemeClr val="bg2"/>
              </a:solidFill>
            </a:endParaRPr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DB045192-A1F5-4A76-94F5-1F12B56068B7}"/>
              </a:ext>
            </a:extLst>
          </p:cNvPr>
          <p:cNvGrpSpPr/>
          <p:nvPr/>
        </p:nvGrpSpPr>
        <p:grpSpPr>
          <a:xfrm>
            <a:off x="5620376" y="3584041"/>
            <a:ext cx="636076" cy="934981"/>
            <a:chOff x="1236969" y="5633938"/>
            <a:chExt cx="636076" cy="934981"/>
          </a:xfrm>
        </p:grpSpPr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9D6DC62D-F40D-42CC-A23D-B24908055F4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57F6239E-9E66-4B94-811C-DBF97605FFC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228AC221-8AF2-4820-AEC2-31E3C4BEACE3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sp>
        <p:nvSpPr>
          <p:cNvPr id="95" name="Rectángulo 94">
            <a:extLst>
              <a:ext uri="{FF2B5EF4-FFF2-40B4-BE49-F238E27FC236}">
                <a16:creationId xmlns:a16="http://schemas.microsoft.com/office/drawing/2014/main" id="{73774510-0118-4E86-9D5F-A8B5D6DE753F}"/>
              </a:ext>
            </a:extLst>
          </p:cNvPr>
          <p:cNvSpPr/>
          <p:nvPr/>
        </p:nvSpPr>
        <p:spPr>
          <a:xfrm>
            <a:off x="8020450" y="3559321"/>
            <a:ext cx="2652074" cy="976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D1862CDE-72FE-46F7-8041-5AD72268DBC5}"/>
              </a:ext>
            </a:extLst>
          </p:cNvPr>
          <p:cNvSpPr txBox="1"/>
          <p:nvPr/>
        </p:nvSpPr>
        <p:spPr>
          <a:xfrm>
            <a:off x="8859036" y="3778347"/>
            <a:ext cx="1730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2"/>
                </a:solidFill>
              </a:rPr>
              <a:t>-           = 3</a:t>
            </a:r>
            <a:endParaRPr lang="es-ES" b="1" dirty="0">
              <a:solidFill>
                <a:schemeClr val="bg2"/>
              </a:solidFill>
            </a:endParaRP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B887CD53-CDD6-478F-BD8B-819922B2B7D4}"/>
              </a:ext>
            </a:extLst>
          </p:cNvPr>
          <p:cNvGrpSpPr/>
          <p:nvPr/>
        </p:nvGrpSpPr>
        <p:grpSpPr>
          <a:xfrm>
            <a:off x="9179295" y="3552360"/>
            <a:ext cx="636076" cy="934981"/>
            <a:chOff x="1236969" y="5633938"/>
            <a:chExt cx="636076" cy="934981"/>
          </a:xfrm>
        </p:grpSpPr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ABB98679-EFD5-4DA6-B809-9DE181890E2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AD8C4028-5DAA-44F9-AD4D-79569D2CCEB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C15F5A73-2445-4059-9687-025E015B905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DECE0234-57E7-3C18-9722-45D8ECEFDACF}"/>
              </a:ext>
            </a:extLst>
          </p:cNvPr>
          <p:cNvGrpSpPr/>
          <p:nvPr/>
        </p:nvGrpSpPr>
        <p:grpSpPr>
          <a:xfrm>
            <a:off x="2180384" y="3647261"/>
            <a:ext cx="636076" cy="934981"/>
            <a:chOff x="1236969" y="5633938"/>
            <a:chExt cx="636076" cy="934981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BF5951DE-3104-F39C-6A7C-BFC1E774AFC9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F781074A-0FDC-EA5D-F846-FE16A1F1665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5D2C69EE-F09A-FA66-F9D0-2876693921C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1082403" y="3628147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3C54EA2F-FC35-A2D4-C1E5-72254EF2DD70}"/>
              </a:ext>
            </a:extLst>
          </p:cNvPr>
          <p:cNvGrpSpPr/>
          <p:nvPr/>
        </p:nvGrpSpPr>
        <p:grpSpPr>
          <a:xfrm>
            <a:off x="4597090" y="3592456"/>
            <a:ext cx="636076" cy="934981"/>
            <a:chOff x="1236969" y="5633938"/>
            <a:chExt cx="636076" cy="934981"/>
          </a:xfrm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A3F2A27F-725F-2F12-CC5A-19836BC682E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E6839981-C2D5-FC7F-0DD0-F18255D2C12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870FFF9D-0C80-382E-4F05-6EFCA88CF6F3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04A21459-CCB0-3B95-4A4F-43E57B22C0D5}"/>
              </a:ext>
            </a:extLst>
          </p:cNvPr>
          <p:cNvGrpSpPr/>
          <p:nvPr/>
        </p:nvGrpSpPr>
        <p:grpSpPr>
          <a:xfrm>
            <a:off x="8219786" y="3529585"/>
            <a:ext cx="636076" cy="934981"/>
            <a:chOff x="1236969" y="5633938"/>
            <a:chExt cx="636076" cy="934981"/>
          </a:xfrm>
        </p:grpSpPr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EA5B244D-A96F-06D1-50F8-33D77A598BA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6398FAC2-4237-A080-F46C-7EA0260CE43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7" name="CuadroTexto 106">
              <a:extLst>
                <a:ext uri="{FF2B5EF4-FFF2-40B4-BE49-F238E27FC236}">
                  <a16:creationId xmlns:a16="http://schemas.microsoft.com/office/drawing/2014/main" id="{77876E07-B41E-6569-1DB4-9C15DF710D97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sp>
        <p:nvSpPr>
          <p:cNvPr id="108" name="Elipse 107">
            <a:extLst>
              <a:ext uri="{FF2B5EF4-FFF2-40B4-BE49-F238E27FC236}">
                <a16:creationId xmlns:a16="http://schemas.microsoft.com/office/drawing/2014/main" id="{69166361-308D-CC40-ED29-3F85B1852042}"/>
              </a:ext>
            </a:extLst>
          </p:cNvPr>
          <p:cNvSpPr/>
          <p:nvPr/>
        </p:nvSpPr>
        <p:spPr>
          <a:xfrm>
            <a:off x="3032814" y="3645451"/>
            <a:ext cx="487120" cy="8630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53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</a:t>
            </a:r>
            <a:r>
              <a:rPr lang="es-ES" dirty="0"/>
              <a:t>aso 4.Asignar cada observación al centroide mas cercano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9"/>
            <a:ext cx="3170903" cy="21660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21660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21660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4961717" y="501412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9250927" y="5875662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808140" y="3322109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3839845" y="506323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1456788" y="5987709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6871720" y="5881068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959397" y="599477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7351759" y="5017665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7933083" y="5899469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8689274" y="500291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4937027" y="5938749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1903665" y="3330971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5891243" y="590744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3770895" y="5948046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47587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C18D6-2043-7D55-27ED-FC902692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</a:rPr>
              <a:t>Finalmente</a:t>
            </a:r>
            <a:endParaRPr lang="es-CO" dirty="0">
              <a:solidFill>
                <a:schemeClr val="bg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3C12C7-8C05-12B6-8D5A-10CCE49D0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6308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</a:t>
            </a:r>
            <a:r>
              <a:rPr lang="es-ES" dirty="0"/>
              <a:t>aso 4.Asignar cada observación al centroide mas cercano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8"/>
            <a:ext cx="3170903" cy="3699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36998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36998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3115817" y="5218306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1567628" y="3338939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808140" y="3322109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2304008" y="331524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3004729" y="3318388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808562" y="4153951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368882" y="519775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3043135" y="4217171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4337428" y="3243124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1508923" y="5150820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751378" y="5128936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2292768" y="4192121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1570502" y="4196619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8061706" y="3249305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0465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C18D6-2043-7D55-27ED-FC902692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</a:rPr>
              <a:t>Paso 5</a:t>
            </a:r>
            <a:endParaRPr lang="es-CO" dirty="0">
              <a:solidFill>
                <a:schemeClr val="bg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3C12C7-8C05-12B6-8D5A-10CCE49D0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1596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</a:t>
            </a:r>
            <a:r>
              <a:rPr lang="es-ES" dirty="0"/>
              <a:t>aso 5. Por cada grupo, actualizar el centroide, calculando el dato medio del conjunto</a:t>
            </a:r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8"/>
            <a:ext cx="3170903" cy="3699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36998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36998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3115817" y="5218306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1567628" y="3338939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808140" y="3322109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2304008" y="331524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3004729" y="3318388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808562" y="4153951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368882" y="519775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3043135" y="4217171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4337428" y="3243124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1508923" y="5150820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751378" y="5128936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2292768" y="4192121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1570502" y="4196619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8061706" y="3249305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31750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</a:t>
            </a:r>
            <a:r>
              <a:rPr lang="es-ES" dirty="0"/>
              <a:t>aso 5. Por cada grupo, actualizar el centroide, calculando el dato medio del conjunto</a:t>
            </a:r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8"/>
            <a:ext cx="3170903" cy="3699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3115817" y="5218306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1567628" y="3338939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808140" y="3322109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2304008" y="331524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3004729" y="3318388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808562" y="4153951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368882" y="519775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3043135" y="4217171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1895962" y="2453069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1508923" y="5150820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751378" y="5128936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2292768" y="4192121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1570502" y="4196619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109122-3FD1-48D1-AF1C-B5DC215514FF}"/>
              </a:ext>
            </a:extLst>
          </p:cNvPr>
          <p:cNvSpPr txBox="1"/>
          <p:nvPr/>
        </p:nvSpPr>
        <p:spPr>
          <a:xfrm>
            <a:off x="4807974" y="3120615"/>
            <a:ext cx="56081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dirty="0"/>
              <a:t>8+11+13+10+13+5+4+12+6+6+13+10+3=114</a:t>
            </a:r>
          </a:p>
          <a:p>
            <a:endParaRPr lang="es-CO" sz="3200" dirty="0"/>
          </a:p>
          <a:p>
            <a:r>
              <a:rPr lang="es-CO" sz="3200" dirty="0"/>
              <a:t>114/13=8.7</a:t>
            </a:r>
            <a:endParaRPr lang="es-ES" sz="3200" dirty="0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BEBA38D1-FC2B-4B9B-AA50-D657F482461F}"/>
              </a:ext>
            </a:extLst>
          </p:cNvPr>
          <p:cNvGrpSpPr/>
          <p:nvPr/>
        </p:nvGrpSpPr>
        <p:grpSpPr>
          <a:xfrm>
            <a:off x="5777962" y="5328991"/>
            <a:ext cx="636076" cy="934981"/>
            <a:chOff x="1236969" y="5633938"/>
            <a:chExt cx="636076" cy="934981"/>
          </a:xfrm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ADA61353-FA1F-428D-BE7A-2CBA408D34A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0CF69199-B4E2-442A-A1DD-52311EB19F67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D9A87B56-6A5C-4AB4-A10B-73DE65F1EF25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6189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6. Repetir el paso 3,4 y 5 hasta que no cambien los centroides</a:t>
            </a:r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8"/>
            <a:ext cx="3170903" cy="3699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36998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36998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2319356" y="423087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1567628" y="3338939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2005781" y="2336818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2304008" y="331524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3004729" y="3318388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808562" y="4153951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849899" y="3321730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1582976" y="4232396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5259229" y="3249305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4337428" y="3243124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1508923" y="5150820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99870" y="229446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751378" y="5128936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6276121" y="3264072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4448925" y="433259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8061706" y="3249305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3737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6. Repetir el paso 3,4 y 5 hasta que no cambien los centroides</a:t>
            </a:r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8"/>
            <a:ext cx="3170903" cy="3699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36998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36998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2319356" y="423087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1567628" y="3338939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3098233" y="3348033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2304008" y="3315246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1862343" y="2286824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808562" y="4153951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849899" y="3321730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1582976" y="4232396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5347315" y="2233955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4337428" y="3243124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5353656" y="435665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57298" y="3242357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6262798" y="4318581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6276121" y="3264072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4448925" y="433259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8061706" y="3249305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9229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6. Repetir el paso 3,4 y 5 hasta que no cambien los centroides</a:t>
            </a:r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8"/>
            <a:ext cx="3170903" cy="3699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36998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36998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2319356" y="4230874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2021129" y="2291165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2537065" y="3276864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1697351" y="3256588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3087148" y="4205636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808562" y="4153951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849899" y="3321730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1582976" y="4232396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6246765" y="3236037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4337428" y="3243124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5353656" y="4356657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5357298" y="3242357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6262798" y="4318581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5337623" y="2200332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4448925" y="4332597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8061706" y="3249305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91279" y="2293928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2345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777" y="1834166"/>
            <a:ext cx="11206879" cy="82756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6. Repetir el paso 3,4 y 5 hasta que no cambien los centroides</a:t>
            </a:r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8"/>
            <a:ext cx="3170903" cy="3699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36998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36998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2571461" y="3346919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2021129" y="2291165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4436945" y="4289858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1697351" y="3256588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2571460" y="4309137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808562" y="4153951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849899" y="3321730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1582976" y="4232396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8061706" y="4289858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8908113" y="2328622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4408262" y="3250764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10030022" y="3227439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5337623" y="2207523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5351363" y="3190647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6336189" y="3197662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8061706" y="3249305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8956235" y="3269857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63483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>
                <a:solidFill>
                  <a:schemeClr val="dk2"/>
                </a:solidFill>
              </a:rPr>
              <a:t>Referencias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lang="es-CO" u="sng" dirty="0">
                <a:solidFill>
                  <a:srgbClr val="000000"/>
                </a:solidFill>
                <a:hlinkClick r:id="rId3"/>
              </a:rPr>
              <a:t>https://docs.rapidminer.com/latest/studio/operators/modeling/segmentation/k_means.html</a:t>
            </a:r>
            <a:r>
              <a:rPr lang="es-CO" dirty="0"/>
              <a:t> </a:t>
            </a: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None/>
            </a:pPr>
            <a:endParaRPr lang="es-CO" dirty="0"/>
          </a:p>
          <a:p>
            <a:pPr marL="0" lvl="0" indent="0">
              <a:buNone/>
            </a:pPr>
            <a:r>
              <a:rPr lang="es-ES" dirty="0">
                <a:hlinkClick r:id="rId4"/>
              </a:rPr>
              <a:t>https://www.youtube.com/watch?v=zHbxbb2ye3E</a:t>
            </a:r>
            <a:r>
              <a:rPr lang="es-E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Descripción (P)</a:t>
            </a:r>
            <a:endParaRPr sz="36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11511679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Centroide 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Clúster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Calcular los centroides de los clústeres promediando todos los valores de un clúster. Los pasos anteriores se repiten para los nuevos centroides hasta que los centroides ya no se muevan o se alcancen los </a:t>
            </a:r>
            <a:r>
              <a:rPr lang="es-CO" sz="2400" b="0" i="1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pasos de optimización máximos</a:t>
            </a: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K=3</a:t>
            </a:r>
            <a:endParaRPr/>
          </a:p>
        </p:txBody>
      </p:sp>
      <p:sp>
        <p:nvSpPr>
          <p:cNvPr id="227" name="Shape 227"/>
          <p:cNvSpPr/>
          <p:nvPr/>
        </p:nvSpPr>
        <p:spPr>
          <a:xfrm>
            <a:off x="2482617" y="5433481"/>
            <a:ext cx="647114" cy="647114"/>
          </a:xfrm>
          <a:prstGeom prst="rect">
            <a:avLst/>
          </a:prstGeom>
          <a:solidFill>
            <a:srgbClr val="376F53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8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8" name="Shape 228"/>
          <p:cNvSpPr/>
          <p:nvPr/>
        </p:nvSpPr>
        <p:spPr>
          <a:xfrm>
            <a:off x="3171705" y="5433481"/>
            <a:ext cx="647114" cy="647114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3860793" y="5433481"/>
            <a:ext cx="647114" cy="647114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0" name="Shape 230"/>
          <p:cNvSpPr/>
          <p:nvPr/>
        </p:nvSpPr>
        <p:spPr>
          <a:xfrm rot="-5400000">
            <a:off x="2644394" y="5936187"/>
            <a:ext cx="323559" cy="647115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1" name="Shape 231"/>
          <p:cNvSpPr/>
          <p:nvPr/>
        </p:nvSpPr>
        <p:spPr>
          <a:xfrm rot="-5400000">
            <a:off x="3331265" y="5953558"/>
            <a:ext cx="323559" cy="647115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2" name="Shape 232"/>
          <p:cNvSpPr/>
          <p:nvPr/>
        </p:nvSpPr>
        <p:spPr>
          <a:xfrm rot="-5400000">
            <a:off x="4018111" y="5953559"/>
            <a:ext cx="323559" cy="647115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3" name="Shape 233"/>
          <p:cNvSpPr/>
          <p:nvPr/>
        </p:nvSpPr>
        <p:spPr>
          <a:xfrm>
            <a:off x="2563857" y="4796881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Shape 234"/>
          <p:cNvSpPr/>
          <p:nvPr/>
        </p:nvSpPr>
        <p:spPr>
          <a:xfrm>
            <a:off x="3250728" y="4814250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Shape 235"/>
          <p:cNvSpPr/>
          <p:nvPr/>
        </p:nvSpPr>
        <p:spPr>
          <a:xfrm>
            <a:off x="3937599" y="4796880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Shape 236"/>
          <p:cNvSpPr/>
          <p:nvPr/>
        </p:nvSpPr>
        <p:spPr>
          <a:xfrm>
            <a:off x="2927171" y="2192467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7" name="Shape 237"/>
          <p:cNvSpPr/>
          <p:nvPr/>
        </p:nvSpPr>
        <p:spPr>
          <a:xfrm rot="-5400000">
            <a:off x="3007707" y="2755313"/>
            <a:ext cx="323559" cy="647115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24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Descripción (P)</a:t>
            </a:r>
            <a:endParaRPr sz="36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3" name="Shape 243"/>
          <p:cNvSpPr/>
          <p:nvPr/>
        </p:nvSpPr>
        <p:spPr>
          <a:xfrm>
            <a:off x="2482617" y="5433481"/>
            <a:ext cx="647114" cy="647114"/>
          </a:xfrm>
          <a:prstGeom prst="rect">
            <a:avLst/>
          </a:prstGeom>
          <a:solidFill>
            <a:srgbClr val="376F53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8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" name="Shape 244"/>
          <p:cNvSpPr/>
          <p:nvPr/>
        </p:nvSpPr>
        <p:spPr>
          <a:xfrm>
            <a:off x="3171705" y="5433481"/>
            <a:ext cx="647114" cy="647114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Shape 245"/>
          <p:cNvSpPr/>
          <p:nvPr/>
        </p:nvSpPr>
        <p:spPr>
          <a:xfrm>
            <a:off x="3860793" y="5433481"/>
            <a:ext cx="647114" cy="647114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" name="Shape 246"/>
          <p:cNvSpPr/>
          <p:nvPr/>
        </p:nvSpPr>
        <p:spPr>
          <a:xfrm>
            <a:off x="4549881" y="5433481"/>
            <a:ext cx="647114" cy="647114"/>
          </a:xfrm>
          <a:prstGeom prst="rect">
            <a:avLst/>
          </a:prstGeom>
          <a:solidFill>
            <a:srgbClr val="0000CC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sz="18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5238969" y="5433481"/>
            <a:ext cx="647114" cy="647114"/>
          </a:xfrm>
          <a:prstGeom prst="rect">
            <a:avLst/>
          </a:prstGeom>
          <a:solidFill>
            <a:srgbClr val="0099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Shape 248"/>
          <p:cNvSpPr/>
          <p:nvPr/>
        </p:nvSpPr>
        <p:spPr>
          <a:xfrm>
            <a:off x="5928057" y="5433481"/>
            <a:ext cx="647114" cy="647114"/>
          </a:xfrm>
          <a:prstGeom prst="rect">
            <a:avLst/>
          </a:prstGeom>
          <a:solidFill>
            <a:srgbClr val="00CC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9" name="Shape 249"/>
          <p:cNvSpPr/>
          <p:nvPr/>
        </p:nvSpPr>
        <p:spPr>
          <a:xfrm rot="-5400000">
            <a:off x="3025394" y="5791779"/>
            <a:ext cx="323559" cy="1294229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0" name="Shape 250"/>
          <p:cNvSpPr/>
          <p:nvPr/>
        </p:nvSpPr>
        <p:spPr>
          <a:xfrm rot="-5400000">
            <a:off x="4367114" y="5770793"/>
            <a:ext cx="323559" cy="1336203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1" name="Shape 251"/>
          <p:cNvSpPr/>
          <p:nvPr/>
        </p:nvSpPr>
        <p:spPr>
          <a:xfrm rot="-5400000">
            <a:off x="5745291" y="5770793"/>
            <a:ext cx="323559" cy="1336202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2" name="Shape 252"/>
          <p:cNvSpPr/>
          <p:nvPr/>
        </p:nvSpPr>
        <p:spPr>
          <a:xfrm>
            <a:off x="2929389" y="4814250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8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" name="Shape 253"/>
          <p:cNvSpPr/>
          <p:nvPr/>
        </p:nvSpPr>
        <p:spPr>
          <a:xfrm>
            <a:off x="4265591" y="4814250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18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54" name="Shape 254"/>
          <p:cNvGrpSpPr/>
          <p:nvPr/>
        </p:nvGrpSpPr>
        <p:grpSpPr>
          <a:xfrm>
            <a:off x="5663089" y="4781224"/>
            <a:ext cx="484632" cy="507851"/>
            <a:chOff x="5663089" y="4781224"/>
            <a:chExt cx="484632" cy="507851"/>
          </a:xfrm>
        </p:grpSpPr>
        <p:sp>
          <p:nvSpPr>
            <p:cNvPr id="255" name="Shape 255"/>
            <p:cNvSpPr/>
            <p:nvPr/>
          </p:nvSpPr>
          <p:spPr>
            <a:xfrm>
              <a:off x="5663089" y="4814250"/>
              <a:ext cx="484632" cy="47482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6" name="Shape 256"/>
            <p:cNvSpPr txBox="1"/>
            <p:nvPr/>
          </p:nvSpPr>
          <p:spPr>
            <a:xfrm>
              <a:off x="5713896" y="4781224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800" b="0" i="0" u="none" strike="noStrike" cap="none">
                  <a:solidFill>
                    <a:schemeClr val="dk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11</a:t>
              </a:r>
              <a:endParaRPr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11511679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Centroide 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Clúster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Calcular los centroides de los clústeres promediando todos los valores de un clúster. Los pasos anteriores se repiten para los nuevos centroides hasta que los centroides ya no se muevan o se alcancen los </a:t>
            </a:r>
            <a:r>
              <a:rPr lang="es-CO" sz="2400" b="0" i="1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pasos de optimización máximos</a:t>
            </a: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K=3</a:t>
            </a:r>
            <a:endParaRPr/>
          </a:p>
        </p:txBody>
      </p:sp>
      <p:sp>
        <p:nvSpPr>
          <p:cNvPr id="258" name="Shape 258"/>
          <p:cNvSpPr/>
          <p:nvPr/>
        </p:nvSpPr>
        <p:spPr>
          <a:xfrm>
            <a:off x="2927171" y="2192467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Shape 259"/>
          <p:cNvSpPr/>
          <p:nvPr/>
        </p:nvSpPr>
        <p:spPr>
          <a:xfrm rot="-5400000">
            <a:off x="3007707" y="2755313"/>
            <a:ext cx="323559" cy="647115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9913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Descripción (P)</a:t>
            </a:r>
            <a:endParaRPr sz="3600" b="0" i="0" u="none" strike="noStrike" cap="non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5" name="Shape 265"/>
          <p:cNvSpPr/>
          <p:nvPr/>
        </p:nvSpPr>
        <p:spPr>
          <a:xfrm>
            <a:off x="2482617" y="5433481"/>
            <a:ext cx="647114" cy="647114"/>
          </a:xfrm>
          <a:prstGeom prst="rect">
            <a:avLst/>
          </a:prstGeom>
          <a:solidFill>
            <a:srgbClr val="376F53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6" name="Shape 266"/>
          <p:cNvSpPr/>
          <p:nvPr/>
        </p:nvSpPr>
        <p:spPr>
          <a:xfrm>
            <a:off x="3171705" y="5433481"/>
            <a:ext cx="647114" cy="647114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7" name="Shape 267"/>
          <p:cNvSpPr/>
          <p:nvPr/>
        </p:nvSpPr>
        <p:spPr>
          <a:xfrm>
            <a:off x="3860793" y="5433481"/>
            <a:ext cx="647114" cy="647114"/>
          </a:xfrm>
          <a:prstGeom prst="rect">
            <a:avLst/>
          </a:prstGeom>
          <a:solidFill>
            <a:srgbClr val="00FF00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Shape 268"/>
          <p:cNvSpPr/>
          <p:nvPr/>
        </p:nvSpPr>
        <p:spPr>
          <a:xfrm>
            <a:off x="4549881" y="5433481"/>
            <a:ext cx="647114" cy="647114"/>
          </a:xfrm>
          <a:prstGeom prst="rect">
            <a:avLst/>
          </a:prstGeom>
          <a:solidFill>
            <a:srgbClr val="0000CC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9" name="Shape 269"/>
          <p:cNvSpPr/>
          <p:nvPr/>
        </p:nvSpPr>
        <p:spPr>
          <a:xfrm>
            <a:off x="5238969" y="5433481"/>
            <a:ext cx="647114" cy="647114"/>
          </a:xfrm>
          <a:prstGeom prst="rect">
            <a:avLst/>
          </a:prstGeom>
          <a:solidFill>
            <a:srgbClr val="0099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Shape 270"/>
          <p:cNvSpPr/>
          <p:nvPr/>
        </p:nvSpPr>
        <p:spPr>
          <a:xfrm>
            <a:off x="5928057" y="5433481"/>
            <a:ext cx="647114" cy="647114"/>
          </a:xfrm>
          <a:prstGeom prst="rect">
            <a:avLst/>
          </a:prstGeom>
          <a:solidFill>
            <a:srgbClr val="00CC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1" name="Shape 271"/>
          <p:cNvSpPr/>
          <p:nvPr/>
        </p:nvSpPr>
        <p:spPr>
          <a:xfrm>
            <a:off x="6624817" y="5433481"/>
            <a:ext cx="647114" cy="647114"/>
          </a:xfrm>
          <a:prstGeom prst="rect">
            <a:avLst/>
          </a:prstGeom>
          <a:solidFill>
            <a:srgbClr val="A5002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Shape 272"/>
          <p:cNvSpPr/>
          <p:nvPr/>
        </p:nvSpPr>
        <p:spPr>
          <a:xfrm>
            <a:off x="7313905" y="5433481"/>
            <a:ext cx="647114" cy="647114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3" name="Shape 273"/>
          <p:cNvSpPr/>
          <p:nvPr/>
        </p:nvSpPr>
        <p:spPr>
          <a:xfrm>
            <a:off x="8002993" y="5433481"/>
            <a:ext cx="647114" cy="647114"/>
          </a:xfrm>
          <a:prstGeom prst="rect">
            <a:avLst/>
          </a:prstGeom>
          <a:solidFill>
            <a:srgbClr val="FF00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Shape 274"/>
          <p:cNvSpPr/>
          <p:nvPr/>
        </p:nvSpPr>
        <p:spPr>
          <a:xfrm rot="-5400000">
            <a:off x="3333482" y="5430333"/>
            <a:ext cx="323559" cy="2025291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5" name="Shape 275"/>
          <p:cNvSpPr/>
          <p:nvPr/>
        </p:nvSpPr>
        <p:spPr>
          <a:xfrm rot="-5400000">
            <a:off x="5421733" y="5451321"/>
            <a:ext cx="323559" cy="198331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6" name="Shape 276"/>
          <p:cNvSpPr/>
          <p:nvPr/>
        </p:nvSpPr>
        <p:spPr>
          <a:xfrm rot="-5400000">
            <a:off x="7475682" y="5430335"/>
            <a:ext cx="323559" cy="202529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7" name="Shape 277"/>
          <p:cNvSpPr/>
          <p:nvPr/>
        </p:nvSpPr>
        <p:spPr>
          <a:xfrm>
            <a:off x="3250728" y="4814250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8" name="Shape 278"/>
          <p:cNvSpPr/>
          <p:nvPr/>
        </p:nvSpPr>
        <p:spPr>
          <a:xfrm>
            <a:off x="5326273" y="4779509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9" name="Shape 279"/>
          <p:cNvSpPr txBox="1"/>
          <p:nvPr/>
        </p:nvSpPr>
        <p:spPr>
          <a:xfrm>
            <a:off x="5377080" y="4746483"/>
            <a:ext cx="428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0" name="Shape 280"/>
          <p:cNvSpPr/>
          <p:nvPr/>
        </p:nvSpPr>
        <p:spPr>
          <a:xfrm>
            <a:off x="7386988" y="4799388"/>
            <a:ext cx="484632" cy="4748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1" name="Shape 281"/>
          <p:cNvSpPr txBox="1"/>
          <p:nvPr/>
        </p:nvSpPr>
        <p:spPr>
          <a:xfrm>
            <a:off x="7437795" y="4766362"/>
            <a:ext cx="428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r>
            <a:endParaRPr sz="1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680321" y="2260673"/>
            <a:ext cx="115116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Centroide 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Clúster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Calcular los centroides de los clústeres promediando todos los valores de un clúster. Los pasos anteriores se repiten para los nuevos centroides hasta que los centroides ya no se muevan o se alcancen los </a:t>
            </a:r>
            <a:r>
              <a:rPr lang="es-CO" sz="2400" b="0" i="1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pasos de optimización máximos</a:t>
            </a: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O"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K=3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054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rebuchet MS"/>
              <a:buNone/>
            </a:pPr>
            <a:r>
              <a:rPr lang="es-CO" sz="3600" b="0" i="0" u="none" strike="noStrike" cap="none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 </a:t>
            </a:r>
            <a:endParaRPr sz="36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53BF37-A6F3-4235-9D98-88B50D58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560" y="2066784"/>
            <a:ext cx="11206879" cy="5412658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s-CO" dirty="0"/>
              <a:t>Paso 1. </a:t>
            </a:r>
            <a:r>
              <a:rPr lang="es-CO" sz="3600" b="1" dirty="0"/>
              <a:t>k= 3</a:t>
            </a:r>
            <a:endParaRPr lang="es-CO" b="1" dirty="0"/>
          </a:p>
          <a:p>
            <a:pPr marL="76200" indent="0">
              <a:lnSpc>
                <a:spcPct val="100000"/>
              </a:lnSpc>
              <a:buNone/>
            </a:pPr>
            <a:endParaRPr lang="es-CO" sz="7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044AC6-2D2B-4887-8A11-A23230C775CE}"/>
              </a:ext>
            </a:extLst>
          </p:cNvPr>
          <p:cNvSpPr/>
          <p:nvPr/>
        </p:nvSpPr>
        <p:spPr>
          <a:xfrm>
            <a:off x="680321" y="2848449"/>
            <a:ext cx="3170903" cy="21660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497889-2DF9-44C6-95D7-1FFA24A73F06}"/>
              </a:ext>
            </a:extLst>
          </p:cNvPr>
          <p:cNvSpPr/>
          <p:nvPr/>
        </p:nvSpPr>
        <p:spPr>
          <a:xfrm>
            <a:off x="4180605" y="2848449"/>
            <a:ext cx="3170903" cy="21660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8666A1-7A7C-4601-9DCD-53319CDF4E34}"/>
              </a:ext>
            </a:extLst>
          </p:cNvPr>
          <p:cNvSpPr/>
          <p:nvPr/>
        </p:nvSpPr>
        <p:spPr>
          <a:xfrm>
            <a:off x="7680889" y="2848449"/>
            <a:ext cx="3170903" cy="216600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8FCFDAD-1427-4669-B8EA-E2ABADD8BBAE}"/>
              </a:ext>
            </a:extLst>
          </p:cNvPr>
          <p:cNvGrpSpPr/>
          <p:nvPr/>
        </p:nvGrpSpPr>
        <p:grpSpPr>
          <a:xfrm>
            <a:off x="362283" y="5169791"/>
            <a:ext cx="636076" cy="934981"/>
            <a:chOff x="1236969" y="5633938"/>
            <a:chExt cx="636076" cy="934981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5DB6C77-02AB-4AA3-BAC9-3E8E5DD3186A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82F5915-E4B5-4135-BE8E-9413530E6AA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51A2BA-9ED4-4EAB-897F-5C32EB179A4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642E374-DC21-49ED-8555-292EF2E43BD7}"/>
              </a:ext>
            </a:extLst>
          </p:cNvPr>
          <p:cNvGrpSpPr/>
          <p:nvPr/>
        </p:nvGrpSpPr>
        <p:grpSpPr>
          <a:xfrm>
            <a:off x="1265683" y="5161783"/>
            <a:ext cx="636076" cy="934981"/>
            <a:chOff x="1236969" y="5633938"/>
            <a:chExt cx="636076" cy="934981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86538A9-B973-4CAD-B3CA-0FC32BCEFE03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356A433-78A1-4C10-AE11-5A42FB4B64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54A095-004C-44C9-B80C-D4AE6677922E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11</a:t>
              </a:r>
              <a:endParaRPr lang="es-ES" sz="2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AA08A57-5580-4CC0-B256-0704315DA889}"/>
              </a:ext>
            </a:extLst>
          </p:cNvPr>
          <p:cNvGrpSpPr/>
          <p:nvPr/>
        </p:nvGrpSpPr>
        <p:grpSpPr>
          <a:xfrm>
            <a:off x="2162368" y="5131172"/>
            <a:ext cx="636076" cy="934981"/>
            <a:chOff x="1236969" y="5633938"/>
            <a:chExt cx="636076" cy="934981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DE3C07F-28AA-4373-B154-FD1A7A4B076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7350FEB-F591-4AFC-A707-5B0DA3758F6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9A0667F-C646-4890-9B4D-662FCB549E16}"/>
                </a:ext>
              </a:extLst>
            </p:cNvPr>
            <p:cNvSpPr txBox="1"/>
            <p:nvPr/>
          </p:nvSpPr>
          <p:spPr>
            <a:xfrm>
              <a:off x="1391339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8</a:t>
              </a:r>
              <a:endParaRPr lang="es-ES" sz="2000" dirty="0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D3D6796-BD9B-4808-B7C7-E0AE9DFC7CBE}"/>
              </a:ext>
            </a:extLst>
          </p:cNvPr>
          <p:cNvGrpSpPr/>
          <p:nvPr/>
        </p:nvGrpSpPr>
        <p:grpSpPr>
          <a:xfrm>
            <a:off x="3072929" y="5151724"/>
            <a:ext cx="636076" cy="934981"/>
            <a:chOff x="1236969" y="5633938"/>
            <a:chExt cx="636076" cy="934981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156531-B8F2-4F21-AD1F-EE25DD489A0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A4D6F90-C6C0-4C5B-B85B-3550447AA5E2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D5C27DF-D003-48FE-AB39-115656FE5B71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58A8F4B-A937-4426-8F4F-3B748157D660}"/>
              </a:ext>
            </a:extLst>
          </p:cNvPr>
          <p:cNvGrpSpPr/>
          <p:nvPr/>
        </p:nvGrpSpPr>
        <p:grpSpPr>
          <a:xfrm>
            <a:off x="379410" y="5990207"/>
            <a:ext cx="636076" cy="934981"/>
            <a:chOff x="1236969" y="5633938"/>
            <a:chExt cx="636076" cy="93498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82443D04-8E8D-4733-B8C7-F0FEDE26907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DE18B7-36C7-4563-AED9-6C0AC941EB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B3C997D-95C1-4074-827B-3C217BE8D097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10</a:t>
              </a:r>
              <a:endParaRPr lang="es-ES" sz="20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E8350FCF-B628-4F3E-B746-13C13A368CC6}"/>
              </a:ext>
            </a:extLst>
          </p:cNvPr>
          <p:cNvGrpSpPr/>
          <p:nvPr/>
        </p:nvGrpSpPr>
        <p:grpSpPr>
          <a:xfrm>
            <a:off x="1265339" y="5968596"/>
            <a:ext cx="636076" cy="934981"/>
            <a:chOff x="1236969" y="5633938"/>
            <a:chExt cx="636076" cy="934981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8CB27AD-03ED-4307-8396-1F1265AC6E4E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D5AE6C5C-2FDB-46A0-99F7-7BBDD32F0F8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261A056-6CCE-4118-B4EF-829CD5B46B7C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355FAA-6E27-4AB9-A56C-1E4B6E039EA8}"/>
              </a:ext>
            </a:extLst>
          </p:cNvPr>
          <p:cNvGrpSpPr/>
          <p:nvPr/>
        </p:nvGrpSpPr>
        <p:grpSpPr>
          <a:xfrm>
            <a:off x="2192481" y="5994774"/>
            <a:ext cx="636076" cy="934981"/>
            <a:chOff x="1236969" y="5633938"/>
            <a:chExt cx="636076" cy="9349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A8A91AE-46DE-4AAA-8509-B1528AC0E314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E402FE54-98C7-49FD-8CF0-F468445A8584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FCDF90-F70B-4C77-9DF3-95722D86B4D8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13</a:t>
              </a:r>
              <a:endParaRPr lang="es-ES" sz="20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7DFD1-4E29-4B3C-B126-4585325A60CF}"/>
              </a:ext>
            </a:extLst>
          </p:cNvPr>
          <p:cNvGrpSpPr/>
          <p:nvPr/>
        </p:nvGrpSpPr>
        <p:grpSpPr>
          <a:xfrm>
            <a:off x="2989890" y="5993364"/>
            <a:ext cx="636076" cy="934981"/>
            <a:chOff x="1236969" y="5633938"/>
            <a:chExt cx="636076" cy="934981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8F02E56-845C-4BB0-8194-9A235B8E1CCD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DA9558F-55D8-4F62-AE9B-9C2799C9BDD3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90E6D78-8E08-4681-9684-923F06039FD2}"/>
                </a:ext>
              </a:extLst>
            </p:cNvPr>
            <p:cNvSpPr txBox="1"/>
            <p:nvPr/>
          </p:nvSpPr>
          <p:spPr>
            <a:xfrm>
              <a:off x="1320006" y="5901374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12</a:t>
              </a:r>
              <a:endParaRPr lang="es-ES" sz="2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22B10A9A-7B2B-4ECD-978A-C6334960E604}"/>
              </a:ext>
            </a:extLst>
          </p:cNvPr>
          <p:cNvGrpSpPr/>
          <p:nvPr/>
        </p:nvGrpSpPr>
        <p:grpSpPr>
          <a:xfrm>
            <a:off x="6472985" y="5095842"/>
            <a:ext cx="636076" cy="934981"/>
            <a:chOff x="1236969" y="5633938"/>
            <a:chExt cx="636076" cy="934981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5AFCAFF0-6C26-4A25-8E54-5EAA4A97ED80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E5E36F7-61D0-4AC6-970D-9C26816CA0E1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2CE4A67-AE58-42A1-8EA0-55C96792476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3</a:t>
              </a:r>
              <a:endParaRPr lang="es-E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D59B344-4EDA-40CB-9F3F-D6C1CC27C93C}"/>
              </a:ext>
            </a:extLst>
          </p:cNvPr>
          <p:cNvGrpSpPr/>
          <p:nvPr/>
        </p:nvGrpSpPr>
        <p:grpSpPr>
          <a:xfrm>
            <a:off x="7077690" y="5796118"/>
            <a:ext cx="636076" cy="934981"/>
            <a:chOff x="1236969" y="5633938"/>
            <a:chExt cx="636076" cy="934981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09EA77F-CD49-4228-B4CB-7E49A22B49DB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6E9CFC7-79D8-4F62-8F8A-17B546721AE9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E25D7C-E6A4-4A9B-9368-9D43AB21BD31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A52098A-6344-4053-90C0-AB6B87049746}"/>
              </a:ext>
            </a:extLst>
          </p:cNvPr>
          <p:cNvGrpSpPr/>
          <p:nvPr/>
        </p:nvGrpSpPr>
        <p:grpSpPr>
          <a:xfrm>
            <a:off x="7907666" y="5800181"/>
            <a:ext cx="636076" cy="934981"/>
            <a:chOff x="1236969" y="5633938"/>
            <a:chExt cx="636076" cy="934981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0305F237-B170-425D-B25D-60A2C04B42F8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6CA5334E-1ADF-4973-867D-A29E0D7D9296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51F99158-6483-4D45-885B-B3006DE6ACF5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686A5BF-6EDD-4053-A3F1-9D3626888A1A}"/>
              </a:ext>
            </a:extLst>
          </p:cNvPr>
          <p:cNvGrpSpPr/>
          <p:nvPr/>
        </p:nvGrpSpPr>
        <p:grpSpPr>
          <a:xfrm>
            <a:off x="7693530" y="4991155"/>
            <a:ext cx="636076" cy="934981"/>
            <a:chOff x="1236969" y="5633938"/>
            <a:chExt cx="636076" cy="934981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86016CF8-2A57-43B6-B495-4A4FE4499B6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77B2032E-8DAB-48E2-AA68-F0BC766606E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2AAE0E81-F0AA-4BED-AA61-6DD31CEDC3A0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2</a:t>
              </a:r>
              <a:endParaRPr lang="es-ES" sz="2000" dirty="0"/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E49ECB93-DED4-4849-9884-8A5C90595510}"/>
              </a:ext>
            </a:extLst>
          </p:cNvPr>
          <p:cNvGrpSpPr/>
          <p:nvPr/>
        </p:nvGrpSpPr>
        <p:grpSpPr>
          <a:xfrm>
            <a:off x="5540910" y="4992513"/>
            <a:ext cx="636076" cy="934981"/>
            <a:chOff x="1236969" y="5633938"/>
            <a:chExt cx="636076" cy="934981"/>
          </a:xfrm>
        </p:grpSpPr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45CFD447-6AFF-4957-8E55-1488E9DC05EF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A2497946-C233-4E01-B437-8CB7824ABA7D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D260A20-2D6B-4A71-B043-A5FFD38ED00B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6</a:t>
              </a:r>
              <a:endParaRPr lang="es-ES" sz="200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0D9405C-07DD-4DC6-B83F-028276963DAB}"/>
              </a:ext>
            </a:extLst>
          </p:cNvPr>
          <p:cNvGrpSpPr/>
          <p:nvPr/>
        </p:nvGrpSpPr>
        <p:grpSpPr>
          <a:xfrm>
            <a:off x="4609296" y="5590098"/>
            <a:ext cx="636076" cy="934981"/>
            <a:chOff x="1236969" y="5633938"/>
            <a:chExt cx="636076" cy="934981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FFEF985D-1057-4F01-B3AD-6B801DDBBF91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A681B51-2B4A-4F31-8450-25214601A76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ADC9B78-5B3E-4A27-A57E-8319D0FAD489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4</a:t>
              </a:r>
              <a:endParaRPr lang="es-ES" sz="2000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3689065-AE27-4C81-BC91-E3BB01F31D9F}"/>
              </a:ext>
            </a:extLst>
          </p:cNvPr>
          <p:cNvGrpSpPr/>
          <p:nvPr/>
        </p:nvGrpSpPr>
        <p:grpSpPr>
          <a:xfrm>
            <a:off x="5552420" y="5866122"/>
            <a:ext cx="636076" cy="934981"/>
            <a:chOff x="1236969" y="5633938"/>
            <a:chExt cx="636076" cy="934981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713D713-2E61-48A3-A2B2-99AD8397BFF6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B90E6155-49D9-4CD3-85E5-A8D95F5EE1BF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2630735-4E02-44DF-9C44-55121AED348A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5</a:t>
              </a:r>
              <a:endParaRPr lang="es-ES" sz="2000" dirty="0"/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BC0A13C4-12B7-4E77-B974-F0560F19A91D}"/>
              </a:ext>
            </a:extLst>
          </p:cNvPr>
          <p:cNvGrpSpPr/>
          <p:nvPr/>
        </p:nvGrpSpPr>
        <p:grpSpPr>
          <a:xfrm>
            <a:off x="10525242" y="5182335"/>
            <a:ext cx="636076" cy="934981"/>
            <a:chOff x="1236969" y="5633938"/>
            <a:chExt cx="636076" cy="934981"/>
          </a:xfrm>
        </p:grpSpPr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F6352A0-EEE5-4D8B-A79A-C1536DF9CDC2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52628E8-3FFF-4C75-BC54-979862E7D250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CC18D6E-0A88-41F1-9152-10049B423C1E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0B596A-141D-4C68-B8B1-E20B2CBD1140}"/>
              </a:ext>
            </a:extLst>
          </p:cNvPr>
          <p:cNvGrpSpPr/>
          <p:nvPr/>
        </p:nvGrpSpPr>
        <p:grpSpPr>
          <a:xfrm>
            <a:off x="9079779" y="5308076"/>
            <a:ext cx="636076" cy="934981"/>
            <a:chOff x="1236969" y="5633938"/>
            <a:chExt cx="636076" cy="934981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03F6773E-8BA4-41E9-B94A-70FDE62DBAA5}"/>
                </a:ext>
              </a:extLst>
            </p:cNvPr>
            <p:cNvSpPr/>
            <p:nvPr/>
          </p:nvSpPr>
          <p:spPr>
            <a:xfrm>
              <a:off x="1236969" y="5706565"/>
              <a:ext cx="636076" cy="79641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5A8F05EA-DB32-463A-A2F9-B220655642FB}"/>
                </a:ext>
              </a:extLst>
            </p:cNvPr>
            <p:cNvSpPr/>
            <p:nvPr/>
          </p:nvSpPr>
          <p:spPr>
            <a:xfrm rot="18457138">
              <a:off x="1087516" y="5908529"/>
              <a:ext cx="934981" cy="3858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6D0D5E82-6E91-4BEE-AE11-CF4C63665E8C}"/>
                </a:ext>
              </a:extLst>
            </p:cNvPr>
            <p:cNvSpPr txBox="1"/>
            <p:nvPr/>
          </p:nvSpPr>
          <p:spPr>
            <a:xfrm>
              <a:off x="1375307" y="590137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000" dirty="0"/>
                <a:t>1</a:t>
              </a:r>
              <a:endParaRPr lang="es-E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7213505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Personalizado 10">
      <a:dk1>
        <a:srgbClr val="000000"/>
      </a:dk1>
      <a:lt1>
        <a:srgbClr val="000000"/>
      </a:lt1>
      <a:dk2>
        <a:srgbClr val="FFFFFF"/>
      </a:dk2>
      <a:lt2>
        <a:srgbClr val="000000"/>
      </a:lt2>
      <a:accent1>
        <a:srgbClr val="000000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900</Words>
  <Application>Microsoft Office PowerPoint</Application>
  <PresentationFormat>Panorámica</PresentationFormat>
  <Paragraphs>395</Paragraphs>
  <Slides>28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Cambria Math</vt:lpstr>
      <vt:lpstr>Trebuchet MS</vt:lpstr>
      <vt:lpstr>Berlín</vt:lpstr>
      <vt:lpstr>K-MEANS </vt:lpstr>
      <vt:lpstr>Descripción</vt:lpstr>
      <vt:lpstr>Descripción</vt:lpstr>
      <vt:lpstr>Consideraciones </vt:lpstr>
      <vt:lpstr>Distancia </vt:lpstr>
      <vt:lpstr>Algoritmo </vt:lpstr>
      <vt:lpstr>Algoritmo </vt:lpstr>
      <vt:lpstr>Algoritmo </vt:lpstr>
      <vt:lpstr>Algoritmo </vt:lpstr>
      <vt:lpstr>Algoritmo </vt:lpstr>
      <vt:lpstr>Algoritmo </vt:lpstr>
      <vt:lpstr>Repetir Proceso Por Cada Elemento</vt:lpstr>
      <vt:lpstr>Algoritmo </vt:lpstr>
      <vt:lpstr>Algoritmo </vt:lpstr>
      <vt:lpstr>Finalmente</vt:lpstr>
      <vt:lpstr>Algoritmo </vt:lpstr>
      <vt:lpstr>Paso 5</vt:lpstr>
      <vt:lpstr>Algoritmo </vt:lpstr>
      <vt:lpstr>Algoritmo </vt:lpstr>
      <vt:lpstr>Algoritmo </vt:lpstr>
      <vt:lpstr>Algoritmo </vt:lpstr>
      <vt:lpstr>Algoritmo </vt:lpstr>
      <vt:lpstr>Algoritmo </vt:lpstr>
      <vt:lpstr>Referencias</vt:lpstr>
      <vt:lpstr>Descripción (P)</vt:lpstr>
      <vt:lpstr>Descripción (P)</vt:lpstr>
      <vt:lpstr>Descripción (P)</vt:lpstr>
      <vt:lpstr>Algoritmo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</dc:title>
  <cp:lastModifiedBy>Asus</cp:lastModifiedBy>
  <cp:revision>14</cp:revision>
  <dcterms:modified xsi:type="dcterms:W3CDTF">2023-05-12T15:16:21Z</dcterms:modified>
</cp:coreProperties>
</file>